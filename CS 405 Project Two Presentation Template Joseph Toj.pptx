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74" r:id="rId17"/>
    <p:sldId id="264" r:id="rId18"/>
    <p:sldId id="265" r:id="rId19"/>
    <p:sldId id="266" r:id="rId20"/>
    <p:sldId id="267" r:id="rId21"/>
    <p:sldId id="268" r:id="rId22"/>
    <p:sldId id="269" r:id="rId23"/>
  </p:sldIdLst>
  <p:sldSz cx="12192000" cy="6858000"/>
  <p:notesSz cx="6858000" cy="9144000"/>
  <p:embeddedFontLst>
    <p:embeddedFont>
      <p:font typeface="Century Gothic" panose="020B0502020202020204" pitchFamily="34" charset="0"/>
      <p:regular r:id="rId25"/>
      <p:bold r:id="rId26"/>
      <p:italic r:id="rId27"/>
      <p:boldItalic r:id="rId28"/>
    </p:embeddedFont>
  </p:embeddedFontLst>
  <p:custDataLst>
    <p:tags r:id="rId2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14" y="1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customschemas.google.com/relationships/presentationmetadata" Target="metadata"/><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nist.gov/" TargetMode="External"/><Relationship Id="rId5" Type="http://schemas.openxmlformats.org/officeDocument/2006/relationships/hyperlink" Target="https://learn.microsoft.com/" TargetMode="External"/><Relationship Id="rId4" Type="http://schemas.openxmlformats.org/officeDocument/2006/relationships/hyperlink" Target="https://owasp.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Joseph Toj</a:t>
            </a:r>
            <a:endParaRPr sz="1850" i="1" dirty="0"/>
          </a:p>
          <a:p>
            <a:pPr marL="0" lvl="0" indent="0" algn="l" rtl="0">
              <a:lnSpc>
                <a:spcPct val="70000"/>
              </a:lnSpc>
              <a:spcBef>
                <a:spcPts val="1000"/>
              </a:spcBef>
              <a:spcAft>
                <a:spcPts val="0"/>
              </a:spcAft>
              <a:buSzPts val="1850"/>
              <a:buNone/>
            </a:pPr>
            <a:r>
              <a:rPr lang="en-US" dirty="0"/>
              <a:t>[Complete this template by replacing the bracketed text with the relevant information.]</a:t>
            </a:r>
            <a:endParaRPr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221325" y="2421489"/>
            <a:ext cx="3945016" cy="3797196"/>
          </a:xfrm>
          <a:prstGeom prst="rect">
            <a:avLst/>
          </a:prstGeom>
          <a:noFill/>
          <a:ln>
            <a:noFill/>
          </a:ln>
        </p:spPr>
        <p:txBody>
          <a:bodyPr spcFirstLastPara="1" wrap="square" lIns="91425" tIns="45700" rIns="91425" bIns="45700" anchor="t" anchorCtr="0">
            <a:normAutofit/>
          </a:bodyPr>
          <a:lstStyle/>
          <a:p>
            <a:pPr marL="1028700">
              <a:spcBef>
                <a:spcPts val="0"/>
              </a:spcBef>
            </a:pPr>
            <a:r>
              <a:rPr lang="en-US" dirty="0"/>
              <a:t>Standardized secure coding policies</a:t>
            </a:r>
          </a:p>
          <a:p>
            <a:pPr marL="1028700">
              <a:spcBef>
                <a:spcPts val="0"/>
              </a:spcBef>
            </a:pPr>
            <a:r>
              <a:rPr lang="en-US" dirty="0"/>
              <a:t>Reduced attack surface</a:t>
            </a:r>
          </a:p>
          <a:p>
            <a:pPr marL="1028700">
              <a:spcBef>
                <a:spcPts val="0"/>
              </a:spcBef>
            </a:pPr>
            <a:r>
              <a:rPr lang="en-US" dirty="0"/>
              <a:t>Assume breach mindset</a:t>
            </a:r>
          </a:p>
          <a:p>
            <a:pPr marL="1028700">
              <a:spcBef>
                <a:spcPts val="0"/>
              </a:spcBef>
            </a:pPr>
            <a:r>
              <a:rPr lang="en-US" dirty="0"/>
              <a:t>Integrated testing and automation</a:t>
            </a:r>
          </a:p>
          <a:p>
            <a:pPr marL="1028700">
              <a:spcBef>
                <a:spcPts val="0"/>
              </a:spcBef>
            </a:pPr>
            <a:r>
              <a:rPr lang="en-US" dirty="0"/>
              <a:t>Defense-in-depth strategy</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4914097" y="2490069"/>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409500" y="2297420"/>
            <a:ext cx="2486100" cy="4024200"/>
          </a:xfrm>
          <a:prstGeom prst="rect">
            <a:avLst/>
          </a:prstGeom>
          <a:noFill/>
          <a:ln>
            <a:noFill/>
          </a:ln>
        </p:spPr>
        <p:txBody>
          <a:bodyPr spcFirstLastPara="1" wrap="square" lIns="91425" tIns="45700" rIns="91425" bIns="45700" anchor="t" anchorCtr="0">
            <a:normAutofit fontScale="85000" lnSpcReduction="10000"/>
          </a:bodyPr>
          <a:lstStyle/>
          <a:p>
            <a:pPr marL="571500">
              <a:lnSpc>
                <a:spcPct val="107916"/>
              </a:lnSpc>
              <a:spcBef>
                <a:spcPts val="0"/>
              </a:spcBef>
            </a:pPr>
            <a:r>
              <a:rPr lang="en-US" sz="2000" dirty="0">
                <a:solidFill>
                  <a:srgbClr val="FFFFFF"/>
                </a:solidFill>
              </a:rPr>
              <a:t>Align to OWASP</a:t>
            </a:r>
          </a:p>
          <a:p>
            <a:pPr marL="571500">
              <a:lnSpc>
                <a:spcPct val="107916"/>
              </a:lnSpc>
              <a:spcBef>
                <a:spcPts val="0"/>
              </a:spcBef>
            </a:pPr>
            <a:r>
              <a:rPr lang="en-US" sz="2000" dirty="0">
                <a:solidFill>
                  <a:srgbClr val="FFFFFF"/>
                </a:solidFill>
              </a:rPr>
              <a:t>Show structured prioritization</a:t>
            </a:r>
          </a:p>
          <a:p>
            <a:pPr marL="571500">
              <a:lnSpc>
                <a:spcPct val="107916"/>
              </a:lnSpc>
              <a:spcBef>
                <a:spcPts val="0"/>
              </a:spcBef>
            </a:pPr>
            <a:r>
              <a:rPr lang="en-US" sz="2000" dirty="0">
                <a:solidFill>
                  <a:srgbClr val="FFFFFF"/>
                </a:solidFill>
              </a:rPr>
              <a:t>Demonstrate risk-based decision-making</a:t>
            </a:r>
          </a:p>
          <a:p>
            <a:pPr marL="571500">
              <a:lnSpc>
                <a:spcPct val="107916"/>
              </a:lnSpc>
              <a:spcBef>
                <a:spcPts val="0"/>
              </a:spcBef>
            </a:pPr>
            <a:r>
              <a:rPr lang="en-US" sz="2000" dirty="0">
                <a:solidFill>
                  <a:srgbClr val="FFFFFF"/>
                </a:solidFill>
              </a:rPr>
              <a:t>Tie to coding standard reference numbers</a:t>
            </a:r>
          </a:p>
          <a:p>
            <a:pPr marL="571500">
              <a:lnSpc>
                <a:spcPct val="107916"/>
              </a:lnSpc>
              <a:spcBef>
                <a:spcPts val="0"/>
              </a:spcBef>
            </a:pPr>
            <a:r>
              <a:rPr lang="en-US" sz="2000" dirty="0">
                <a:solidFill>
                  <a:srgbClr val="FFFFFF"/>
                </a:solidFill>
              </a:rPr>
              <a:t>Show organizational maturity</a:t>
            </a:r>
            <a:endParaRPr dirty="0"/>
          </a:p>
        </p:txBody>
      </p:sp>
      <p:graphicFrame>
        <p:nvGraphicFramePr>
          <p:cNvPr id="161" name="Google Shape;161;p4" descr="Alt text required"/>
          <p:cNvGraphicFramePr/>
          <p:nvPr>
            <p:extLst>
              <p:ext uri="{D42A27DB-BD31-4B8C-83A1-F6EECF244321}">
                <p14:modId xmlns:p14="http://schemas.microsoft.com/office/powerpoint/2010/main" val="393042449"/>
              </p:ext>
            </p:extLst>
          </p:nvPr>
        </p:nvGraphicFramePr>
        <p:xfrm>
          <a:off x="3210374" y="2620655"/>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rgbClr val="FFD966"/>
                          </a:solidFill>
                        </a:rPr>
                        <a:t>Null Pointer Dereference (CS-03)Memory Leaks (CS-10)Insecure Logging (CS-07)</a:t>
                      </a:r>
                      <a:endParaRPr sz="24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rgbClr val="FFD966"/>
                          </a:solidFill>
                        </a:rPr>
                        <a:t>SQL Injection (CS-01)Buffer Overflow (CS-02)Improper Input Validation (CS-04)Broken Access Control (CS-08)Weak Encryption (CS-06)</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2400" u="none" strike="noStrike" cap="none" dirty="0">
                          <a:solidFill>
                            <a:srgbClr val="FFD966"/>
                          </a:solidFill>
                        </a:rPr>
                        <a:t>Insecure Deserialization (CS-09)Misconfigured Error Handling</a:t>
                      </a:r>
                      <a:endParaRPr sz="2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800" u="none" strike="noStrike" cap="none" dirty="0">
                          <a:solidFill>
                            <a:srgbClr val="FFD966"/>
                          </a:solidFill>
                        </a:rPr>
                        <a:t>Hardcoded Credentials (CS-05)</a:t>
                      </a:r>
                      <a:endParaRPr sz="28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Least Privilege</a:t>
            </a:r>
          </a:p>
          <a:p>
            <a:pPr marL="228600" lvl="0" indent="-228600" algn="l" rtl="0">
              <a:lnSpc>
                <a:spcPct val="90000"/>
              </a:lnSpc>
              <a:spcBef>
                <a:spcPts val="0"/>
              </a:spcBef>
              <a:spcAft>
                <a:spcPts val="0"/>
              </a:spcAft>
              <a:buClr>
                <a:schemeClr val="lt1"/>
              </a:buClr>
              <a:buSzPts val="2200"/>
              <a:buChar char="•"/>
            </a:pPr>
            <a:r>
              <a:rPr lang="en-US" dirty="0"/>
              <a:t>Defense in Depth</a:t>
            </a:r>
          </a:p>
          <a:p>
            <a:pPr marL="228600" lvl="0" indent="-228600" algn="l" rtl="0">
              <a:lnSpc>
                <a:spcPct val="90000"/>
              </a:lnSpc>
              <a:spcBef>
                <a:spcPts val="0"/>
              </a:spcBef>
              <a:spcAft>
                <a:spcPts val="0"/>
              </a:spcAft>
              <a:buClr>
                <a:schemeClr val="lt1"/>
              </a:buClr>
              <a:buSzPts val="2200"/>
              <a:buChar char="•"/>
            </a:pPr>
            <a:r>
              <a:rPr lang="en-US" dirty="0"/>
              <a:t>Fail Securely</a:t>
            </a:r>
          </a:p>
          <a:p>
            <a:pPr marL="228600" lvl="0" indent="-228600" algn="l" rtl="0">
              <a:lnSpc>
                <a:spcPct val="90000"/>
              </a:lnSpc>
              <a:spcBef>
                <a:spcPts val="0"/>
              </a:spcBef>
              <a:spcAft>
                <a:spcPts val="0"/>
              </a:spcAft>
              <a:buClr>
                <a:schemeClr val="lt1"/>
              </a:buClr>
              <a:buSzPts val="2200"/>
              <a:buChar char="•"/>
            </a:pPr>
            <a:r>
              <a:rPr lang="en-US" dirty="0"/>
              <a:t>Assume Vulnerability</a:t>
            </a:r>
          </a:p>
          <a:p>
            <a:pPr marL="228600" lvl="0" indent="-228600" algn="l" rtl="0">
              <a:lnSpc>
                <a:spcPct val="90000"/>
              </a:lnSpc>
              <a:spcBef>
                <a:spcPts val="0"/>
              </a:spcBef>
              <a:spcAft>
                <a:spcPts val="0"/>
              </a:spcAft>
              <a:buClr>
                <a:schemeClr val="lt1"/>
              </a:buClr>
              <a:buSzPts val="2200"/>
              <a:buChar char="•"/>
            </a:pPr>
            <a:r>
              <a:rPr lang="en-US" dirty="0"/>
              <a:t>Input Validation</a:t>
            </a:r>
          </a:p>
          <a:p>
            <a:pPr marL="228600" lvl="0" indent="-228600" algn="l" rtl="0">
              <a:lnSpc>
                <a:spcPct val="90000"/>
              </a:lnSpc>
              <a:spcBef>
                <a:spcPts val="0"/>
              </a:spcBef>
              <a:spcAft>
                <a:spcPts val="0"/>
              </a:spcAft>
              <a:buClr>
                <a:schemeClr val="lt1"/>
              </a:buClr>
              <a:buSzPts val="2200"/>
              <a:buChar char="•"/>
            </a:pPr>
            <a:r>
              <a:rPr lang="en-US" dirty="0"/>
              <a:t>Secure Defaults</a:t>
            </a:r>
          </a:p>
          <a:p>
            <a:pPr marL="228600" lvl="0" indent="-228600" algn="l" rtl="0">
              <a:lnSpc>
                <a:spcPct val="90000"/>
              </a:lnSpc>
              <a:spcBef>
                <a:spcPts val="0"/>
              </a:spcBef>
              <a:spcAft>
                <a:spcPts val="0"/>
              </a:spcAft>
              <a:buClr>
                <a:schemeClr val="lt1"/>
              </a:buClr>
              <a:buSzPts val="2200"/>
              <a:buChar char="•"/>
            </a:pPr>
            <a:r>
              <a:rPr lang="en-US" dirty="0"/>
              <a:t>Separation of Duties</a:t>
            </a:r>
          </a:p>
          <a:p>
            <a:pPr marL="228600" lvl="0" indent="-228600" algn="l" rtl="0">
              <a:lnSpc>
                <a:spcPct val="90000"/>
              </a:lnSpc>
              <a:spcBef>
                <a:spcPts val="0"/>
              </a:spcBef>
              <a:spcAft>
                <a:spcPts val="0"/>
              </a:spcAft>
              <a:buClr>
                <a:schemeClr val="lt1"/>
              </a:buClr>
              <a:buSzPts val="2200"/>
              <a:buChar char="•"/>
            </a:pPr>
            <a:r>
              <a:rPr lang="en-US" dirty="0"/>
              <a:t>Complete Mediation</a:t>
            </a:r>
          </a:p>
          <a:p>
            <a:pPr marL="228600" lvl="0" indent="-228600" algn="l" rtl="0">
              <a:lnSpc>
                <a:spcPct val="90000"/>
              </a:lnSpc>
              <a:spcBef>
                <a:spcPts val="0"/>
              </a:spcBef>
              <a:spcAft>
                <a:spcPts val="0"/>
              </a:spcAft>
              <a:buClr>
                <a:schemeClr val="lt1"/>
              </a:buClr>
              <a:buSzPts val="2200"/>
              <a:buChar char="•"/>
            </a:pPr>
            <a:r>
              <a:rPr lang="en-US" dirty="0"/>
              <a:t>Minimize Attack Surface</a:t>
            </a:r>
          </a:p>
          <a:p>
            <a:pPr marL="228600" lvl="0" indent="-228600" algn="l" rtl="0">
              <a:lnSpc>
                <a:spcPct val="90000"/>
              </a:lnSpc>
              <a:spcBef>
                <a:spcPts val="0"/>
              </a:spcBef>
              <a:spcAft>
                <a:spcPts val="0"/>
              </a:spcAft>
              <a:buClr>
                <a:schemeClr val="lt1"/>
              </a:buClr>
              <a:buSzPts val="2200"/>
              <a:buChar char="•"/>
            </a:pPr>
            <a:r>
              <a:rPr lang="en-US" dirty="0"/>
              <a:t>Keep Security Simple</a:t>
            </a:r>
            <a:endParaRPr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2000" dirty="0"/>
              <a:t>High (Critical Risk)</a:t>
            </a:r>
          </a:p>
          <a:p>
            <a:pPr marL="342900">
              <a:spcBef>
                <a:spcPts val="0"/>
              </a:spcBef>
              <a:buSzPts val="2000"/>
            </a:pPr>
            <a:r>
              <a:rPr lang="en-US" sz="2000" dirty="0"/>
              <a:t>CS-01 SQL Parameterization</a:t>
            </a:r>
          </a:p>
          <a:p>
            <a:pPr marL="342900">
              <a:spcBef>
                <a:spcPts val="0"/>
              </a:spcBef>
              <a:buSzPts val="2000"/>
            </a:pPr>
            <a:r>
              <a:rPr lang="en-US" sz="2000" dirty="0"/>
              <a:t>CS-02 Bounds Checking</a:t>
            </a:r>
          </a:p>
          <a:p>
            <a:pPr marL="342900">
              <a:spcBef>
                <a:spcPts val="0"/>
              </a:spcBef>
              <a:buSzPts val="2000"/>
            </a:pPr>
            <a:r>
              <a:rPr lang="en-US" sz="2000" dirty="0"/>
              <a:t>CS-04 Input ValidationCS-06 Strong Encryption</a:t>
            </a:r>
          </a:p>
          <a:p>
            <a:pPr marL="342900">
              <a:spcBef>
                <a:spcPts val="0"/>
              </a:spcBef>
              <a:buSzPts val="2000"/>
            </a:pPr>
            <a:r>
              <a:rPr lang="en-US" sz="2000" dirty="0"/>
              <a:t>CS-08 Access Control</a:t>
            </a:r>
          </a:p>
          <a:p>
            <a:pPr marL="0" indent="0">
              <a:spcBef>
                <a:spcPts val="0"/>
              </a:spcBef>
              <a:buSzPts val="2000"/>
              <a:buNone/>
            </a:pPr>
            <a:r>
              <a:rPr lang="en-US" sz="2000" dirty="0"/>
              <a:t>Medium</a:t>
            </a:r>
          </a:p>
          <a:p>
            <a:pPr marL="342900">
              <a:spcBef>
                <a:spcPts val="0"/>
              </a:spcBef>
              <a:buSzPts val="2000"/>
            </a:pPr>
            <a:r>
              <a:rPr lang="en-US" sz="2000" dirty="0"/>
              <a:t>CS-03 Null Checking</a:t>
            </a:r>
          </a:p>
          <a:p>
            <a:pPr marL="342900">
              <a:spcBef>
                <a:spcPts val="0"/>
              </a:spcBef>
              <a:buSzPts val="2000"/>
            </a:pPr>
            <a:r>
              <a:rPr lang="en-US" sz="2000" dirty="0"/>
              <a:t>CS-05 Secrets Management</a:t>
            </a:r>
          </a:p>
          <a:p>
            <a:pPr marL="342900">
              <a:spcBef>
                <a:spcPts val="0"/>
              </a:spcBef>
              <a:buSzPts val="2000"/>
            </a:pPr>
            <a:r>
              <a:rPr lang="en-US" sz="2000" dirty="0"/>
              <a:t>CS-07 Secure Logging</a:t>
            </a:r>
          </a:p>
          <a:p>
            <a:pPr marL="342900">
              <a:spcBef>
                <a:spcPts val="0"/>
              </a:spcBef>
              <a:buSzPts val="2000"/>
            </a:pPr>
            <a:r>
              <a:rPr lang="en-US" sz="2000" dirty="0"/>
              <a:t>CS-09 Safe Serialization</a:t>
            </a:r>
          </a:p>
          <a:p>
            <a:pPr marL="342900">
              <a:spcBef>
                <a:spcPts val="0"/>
              </a:spcBef>
              <a:buSzPts val="2000"/>
            </a:pPr>
            <a:r>
              <a:rPr lang="en-US" sz="2000" dirty="0"/>
              <a:t>CS-10 Memory Management</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2000" dirty="0"/>
              <a:t>Encryption at Rest:</a:t>
            </a:r>
          </a:p>
          <a:p>
            <a:pPr marL="228600" lvl="0" indent="-228600" algn="l" rtl="0">
              <a:lnSpc>
                <a:spcPct val="90000"/>
              </a:lnSpc>
              <a:spcBef>
                <a:spcPts val="0"/>
              </a:spcBef>
              <a:spcAft>
                <a:spcPts val="0"/>
              </a:spcAft>
              <a:buClr>
                <a:schemeClr val="lt1"/>
              </a:buClr>
              <a:buSzPts val="2000"/>
              <a:buChar char="•"/>
            </a:pPr>
            <a:r>
              <a:rPr lang="en-US" sz="2000" dirty="0"/>
              <a:t>AES-256</a:t>
            </a:r>
          </a:p>
          <a:p>
            <a:pPr marL="228600" lvl="0" indent="-228600" algn="l" rtl="0">
              <a:lnSpc>
                <a:spcPct val="90000"/>
              </a:lnSpc>
              <a:spcBef>
                <a:spcPts val="0"/>
              </a:spcBef>
              <a:spcAft>
                <a:spcPts val="0"/>
              </a:spcAft>
              <a:buClr>
                <a:schemeClr val="lt1"/>
              </a:buClr>
              <a:buSzPts val="2000"/>
              <a:buChar char="•"/>
            </a:pPr>
            <a:r>
              <a:rPr lang="en-US" sz="2000" dirty="0"/>
              <a:t>Encrypted databases</a:t>
            </a:r>
          </a:p>
          <a:p>
            <a:pPr marL="228600" lvl="0" indent="-228600" algn="l" rtl="0">
              <a:lnSpc>
                <a:spcPct val="90000"/>
              </a:lnSpc>
              <a:spcBef>
                <a:spcPts val="0"/>
              </a:spcBef>
              <a:spcAft>
                <a:spcPts val="0"/>
              </a:spcAft>
              <a:buClr>
                <a:schemeClr val="lt1"/>
              </a:buClr>
              <a:buSzPts val="2000"/>
              <a:buChar char="•"/>
            </a:pPr>
            <a:r>
              <a:rPr lang="en-US" sz="2000" dirty="0"/>
              <a:t>Encrypted backups</a:t>
            </a:r>
          </a:p>
          <a:p>
            <a:pPr marL="0" lvl="0" indent="0" algn="l" rtl="0">
              <a:lnSpc>
                <a:spcPct val="90000"/>
              </a:lnSpc>
              <a:spcBef>
                <a:spcPts val="0"/>
              </a:spcBef>
              <a:spcAft>
                <a:spcPts val="0"/>
              </a:spcAft>
              <a:buClr>
                <a:schemeClr val="lt1"/>
              </a:buClr>
              <a:buSzPts val="2000"/>
              <a:buNone/>
            </a:pPr>
            <a:r>
              <a:rPr lang="en-US" sz="2000" dirty="0"/>
              <a:t>Encryption in Flight:</a:t>
            </a:r>
          </a:p>
          <a:p>
            <a:pPr marL="342900">
              <a:spcBef>
                <a:spcPts val="0"/>
              </a:spcBef>
              <a:buSzPts val="2000"/>
            </a:pPr>
            <a:r>
              <a:rPr lang="en-US" sz="2000" dirty="0"/>
              <a:t>TLS 1.2+Certificate validation</a:t>
            </a:r>
          </a:p>
          <a:p>
            <a:pPr marL="342900">
              <a:spcBef>
                <a:spcPts val="0"/>
              </a:spcBef>
              <a:buSzPts val="2000"/>
            </a:pPr>
            <a:r>
              <a:rPr lang="en-US" sz="2000" dirty="0"/>
              <a:t>No self-signed certs in production</a:t>
            </a:r>
          </a:p>
          <a:p>
            <a:pPr marL="0" indent="0">
              <a:spcBef>
                <a:spcPts val="0"/>
              </a:spcBef>
              <a:buSzPts val="2000"/>
              <a:buNone/>
            </a:pPr>
            <a:r>
              <a:rPr lang="en-US" sz="2000" dirty="0"/>
              <a:t>Encryption in Use:</a:t>
            </a:r>
          </a:p>
          <a:p>
            <a:pPr marL="342900">
              <a:spcBef>
                <a:spcPts val="0"/>
              </a:spcBef>
              <a:buSzPts val="2000"/>
            </a:pPr>
            <a:r>
              <a:rPr lang="en-US" sz="2000" dirty="0"/>
              <a:t>Memory protection</a:t>
            </a:r>
          </a:p>
          <a:p>
            <a:pPr marL="342900">
              <a:spcBef>
                <a:spcPts val="0"/>
              </a:spcBef>
              <a:buSzPts val="2000"/>
            </a:pPr>
            <a:r>
              <a:rPr lang="en-US" sz="2000" dirty="0"/>
              <a:t>Secure wiping of sensitive data</a:t>
            </a:r>
          </a:p>
          <a:p>
            <a:pPr marL="342900">
              <a:spcBef>
                <a:spcPts val="0"/>
              </a:spcBef>
              <a:buSzPts val="2000"/>
            </a:pPr>
            <a:r>
              <a:rPr lang="en-US" sz="2000" dirty="0"/>
              <a:t>Masking sensitive fields</a:t>
            </a: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r>
              <a:rPr lang="en-US" dirty="0"/>
              <a:t>Authentication:</a:t>
            </a:r>
          </a:p>
          <a:p>
            <a:pPr marL="342900">
              <a:spcBef>
                <a:spcPts val="0"/>
              </a:spcBef>
              <a:buSzPts val="2400"/>
            </a:pPr>
            <a:r>
              <a:rPr lang="en-US" dirty="0"/>
              <a:t>MFA required</a:t>
            </a:r>
          </a:p>
          <a:p>
            <a:pPr marL="342900">
              <a:spcBef>
                <a:spcPts val="0"/>
              </a:spcBef>
              <a:buSzPts val="2400"/>
            </a:pPr>
            <a:r>
              <a:rPr lang="en-US" dirty="0"/>
              <a:t>Strong password policy</a:t>
            </a:r>
          </a:p>
          <a:p>
            <a:pPr marL="342900">
              <a:spcBef>
                <a:spcPts val="0"/>
              </a:spcBef>
              <a:buSzPts val="2400"/>
            </a:pPr>
            <a:r>
              <a:rPr lang="en-US" dirty="0"/>
              <a:t>Secure session tokens</a:t>
            </a:r>
          </a:p>
          <a:p>
            <a:pPr marL="0" indent="0">
              <a:spcBef>
                <a:spcPts val="0"/>
              </a:spcBef>
              <a:buSzPts val="2400"/>
              <a:buNone/>
            </a:pPr>
            <a:r>
              <a:rPr lang="en-US" dirty="0"/>
              <a:t>Authorization:</a:t>
            </a:r>
          </a:p>
          <a:p>
            <a:pPr marL="342900">
              <a:spcBef>
                <a:spcPts val="0"/>
              </a:spcBef>
              <a:buSzPts val="2400"/>
            </a:pPr>
            <a:r>
              <a:rPr lang="en-US" dirty="0"/>
              <a:t>Role-Based Access Control (RBAC)</a:t>
            </a:r>
          </a:p>
          <a:p>
            <a:pPr marL="342900">
              <a:spcBef>
                <a:spcPts val="0"/>
              </a:spcBef>
              <a:buSzPts val="2400"/>
            </a:pPr>
            <a:r>
              <a:rPr lang="en-US" dirty="0"/>
              <a:t>Principle of least privilege</a:t>
            </a:r>
          </a:p>
          <a:p>
            <a:pPr marL="0" indent="0">
              <a:spcBef>
                <a:spcPts val="0"/>
              </a:spcBef>
              <a:buSzPts val="2400"/>
              <a:buNone/>
            </a:pPr>
            <a:r>
              <a:rPr lang="en-US" dirty="0"/>
              <a:t>Accounting:</a:t>
            </a:r>
          </a:p>
          <a:p>
            <a:pPr marL="342900">
              <a:spcBef>
                <a:spcPts val="0"/>
              </a:spcBef>
              <a:buSzPts val="2400"/>
            </a:pPr>
            <a:r>
              <a:rPr lang="en-US" dirty="0"/>
              <a:t>Audit logging</a:t>
            </a:r>
          </a:p>
          <a:p>
            <a:pPr marL="342900">
              <a:spcBef>
                <a:spcPts val="0"/>
              </a:spcBef>
              <a:buSzPts val="2400"/>
            </a:pPr>
            <a:r>
              <a:rPr lang="en-US" dirty="0"/>
              <a:t>Tamper-resistant logs</a:t>
            </a:r>
          </a:p>
          <a:p>
            <a:pPr marL="342900">
              <a:spcBef>
                <a:spcPts val="0"/>
              </a:spcBef>
              <a:buSzPts val="2400"/>
            </a:pPr>
            <a:r>
              <a:rPr lang="en-US" dirty="0"/>
              <a:t>Monitoring and alerts</a:t>
            </a: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Vulnerability Tested: SQL Injection (CS-01)</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dirty="0"/>
              <a:t>Testing Framework Used:</a:t>
            </a:r>
          </a:p>
          <a:p>
            <a:pPr marL="342900"/>
            <a:r>
              <a:rPr lang="en-US" dirty="0"/>
              <a:t>Google Test (C++ Unit Testing Framework)</a:t>
            </a:r>
          </a:p>
          <a:p>
            <a:pPr marL="342900"/>
            <a:r>
              <a:rPr lang="en-US" dirty="0"/>
              <a:t>Visual Studio 2022</a:t>
            </a:r>
          </a:p>
          <a:p>
            <a:pPr marL="0" indent="0">
              <a:buNone/>
            </a:pPr>
            <a:r>
              <a:rPr lang="en-US" dirty="0" err="1"/>
              <a:t>Goal:Verify</a:t>
            </a:r>
            <a:r>
              <a:rPr lang="en-US" dirty="0"/>
              <a:t> that parameterized queries prevent injection attacks and properly handle both valid and malicious input.</a:t>
            </a:r>
          </a:p>
          <a:p>
            <a:pPr marL="0" indent="0">
              <a:buNone/>
            </a:pPr>
            <a:r>
              <a:rPr lang="en-US" dirty="0"/>
              <a:t>External Testing Tools Used:</a:t>
            </a:r>
          </a:p>
          <a:p>
            <a:pPr marL="342900"/>
            <a:r>
              <a:rPr lang="en-US" dirty="0"/>
              <a:t>Static Code Analysis</a:t>
            </a:r>
          </a:p>
          <a:p>
            <a:pPr marL="342900"/>
            <a:r>
              <a:rPr lang="en-US" dirty="0" err="1"/>
              <a:t>Cppcheck</a:t>
            </a:r>
            <a:endParaRPr lang="en-US" dirty="0"/>
          </a:p>
          <a:p>
            <a:pPr marL="342900"/>
            <a:r>
              <a:rPr lang="en-US" dirty="0"/>
              <a:t>Compiler warnings</a:t>
            </a:r>
          </a:p>
          <a:p>
            <a:pPr marL="342900"/>
            <a:r>
              <a:rPr lang="en-US" dirty="0"/>
              <a:t>Automated CI unit test execution</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CD42-4C63-5688-7194-CF8EE4B9E4D7}"/>
              </a:ext>
            </a:extLst>
          </p:cNvPr>
          <p:cNvSpPr>
            <a:spLocks noGrp="1"/>
          </p:cNvSpPr>
          <p:nvPr>
            <p:ph type="title"/>
          </p:nvPr>
        </p:nvSpPr>
        <p:spPr/>
        <p:txBody>
          <a:bodyPr/>
          <a:lstStyle/>
          <a:p>
            <a:r>
              <a:rPr lang="en-US" dirty="0"/>
              <a:t>Does valid input return authorized results?</a:t>
            </a:r>
          </a:p>
        </p:txBody>
      </p:sp>
      <p:sp>
        <p:nvSpPr>
          <p:cNvPr id="3" name="Text Placeholder 2">
            <a:extLst>
              <a:ext uri="{FF2B5EF4-FFF2-40B4-BE49-F238E27FC236}">
                <a16:creationId xmlns:a16="http://schemas.microsoft.com/office/drawing/2014/main" id="{6C607BC7-EAF7-5227-9851-F5DF13896EB6}"/>
              </a:ext>
            </a:extLst>
          </p:cNvPr>
          <p:cNvSpPr>
            <a:spLocks noGrp="1"/>
          </p:cNvSpPr>
          <p:nvPr>
            <p:ph type="body" idx="1"/>
          </p:nvPr>
        </p:nvSpPr>
        <p:spPr/>
        <p:txBody>
          <a:bodyPr/>
          <a:lstStyle/>
          <a:p>
            <a:pPr marL="114300" indent="0">
              <a:buNone/>
            </a:pPr>
            <a:r>
              <a:rPr lang="en-US" dirty="0"/>
              <a:t>Input: "Joseph“</a:t>
            </a:r>
          </a:p>
          <a:p>
            <a:pPr marL="114300" indent="0">
              <a:buNone/>
            </a:pPr>
            <a:r>
              <a:rPr lang="en-US" dirty="0"/>
              <a:t>Expected: Successful query execution</a:t>
            </a:r>
          </a:p>
          <a:p>
            <a:pPr marL="114300" indent="0">
              <a:buNone/>
            </a:pPr>
            <a:r>
              <a:rPr lang="en-US" dirty="0"/>
              <a:t>Result: PASS</a:t>
            </a:r>
          </a:p>
          <a:p>
            <a:pPr marL="114300" indent="0">
              <a:buNone/>
            </a:pPr>
            <a:r>
              <a:rPr lang="en-US" dirty="0"/>
              <a:t>Explanation: Parameterized query executes safely when input is valid.</a:t>
            </a:r>
          </a:p>
        </p:txBody>
      </p:sp>
    </p:spTree>
    <p:extLst>
      <p:ext uri="{BB962C8B-B14F-4D97-AF65-F5344CB8AC3E}">
        <p14:creationId xmlns:p14="http://schemas.microsoft.com/office/powerpoint/2010/main" val="3345442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F8CF-AAC9-E6CF-73FA-6FAA0D2E7281}"/>
              </a:ext>
            </a:extLst>
          </p:cNvPr>
          <p:cNvSpPr>
            <a:spLocks noGrp="1"/>
          </p:cNvSpPr>
          <p:nvPr>
            <p:ph type="title"/>
          </p:nvPr>
        </p:nvSpPr>
        <p:spPr/>
        <p:txBody>
          <a:bodyPr/>
          <a:lstStyle/>
          <a:p>
            <a:r>
              <a:rPr lang="en-US" dirty="0"/>
              <a:t>Does the system reject classic SQL injection payload?</a:t>
            </a:r>
          </a:p>
        </p:txBody>
      </p:sp>
      <p:sp>
        <p:nvSpPr>
          <p:cNvPr id="3" name="Text Placeholder 2">
            <a:extLst>
              <a:ext uri="{FF2B5EF4-FFF2-40B4-BE49-F238E27FC236}">
                <a16:creationId xmlns:a16="http://schemas.microsoft.com/office/drawing/2014/main" id="{EC0C14D7-3E55-F489-34F2-7420474444B3}"/>
              </a:ext>
            </a:extLst>
          </p:cNvPr>
          <p:cNvSpPr>
            <a:spLocks noGrp="1"/>
          </p:cNvSpPr>
          <p:nvPr>
            <p:ph type="body" idx="1"/>
          </p:nvPr>
        </p:nvSpPr>
        <p:spPr/>
        <p:txBody>
          <a:bodyPr/>
          <a:lstStyle/>
          <a:p>
            <a:pPr marL="114300" indent="0">
              <a:buNone/>
            </a:pPr>
            <a:r>
              <a:rPr lang="en-US" dirty="0"/>
              <a:t>Input: ' OR 1=1 –</a:t>
            </a:r>
          </a:p>
          <a:p>
            <a:pPr marL="114300" indent="0">
              <a:buNone/>
            </a:pPr>
            <a:r>
              <a:rPr lang="en-US" dirty="0"/>
              <a:t>Expected: Query rejected or sanitized</a:t>
            </a:r>
          </a:p>
          <a:p>
            <a:pPr marL="114300" indent="0">
              <a:buNone/>
            </a:pPr>
            <a:r>
              <a:rPr lang="en-US" dirty="0"/>
              <a:t>Result: PASS</a:t>
            </a:r>
          </a:p>
          <a:p>
            <a:pPr marL="114300" indent="0">
              <a:buNone/>
            </a:pPr>
            <a:r>
              <a:rPr lang="en-US" dirty="0"/>
              <a:t>Explanation: The parameterized query prevents execution of injected SQL logic.</a:t>
            </a:r>
          </a:p>
        </p:txBody>
      </p:sp>
    </p:spTree>
    <p:extLst>
      <p:ext uri="{BB962C8B-B14F-4D97-AF65-F5344CB8AC3E}">
        <p14:creationId xmlns:p14="http://schemas.microsoft.com/office/powerpoint/2010/main" val="1410177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CC25B-3277-2345-C0F7-87C5A485DD87}"/>
              </a:ext>
            </a:extLst>
          </p:cNvPr>
          <p:cNvSpPr>
            <a:spLocks noGrp="1"/>
          </p:cNvSpPr>
          <p:nvPr>
            <p:ph type="title"/>
          </p:nvPr>
        </p:nvSpPr>
        <p:spPr/>
        <p:txBody>
          <a:bodyPr/>
          <a:lstStyle/>
          <a:p>
            <a:r>
              <a:rPr lang="en-US" dirty="0"/>
              <a:t>Does the system block stacked query injection?</a:t>
            </a:r>
          </a:p>
        </p:txBody>
      </p:sp>
      <p:sp>
        <p:nvSpPr>
          <p:cNvPr id="3" name="Text Placeholder 2">
            <a:extLst>
              <a:ext uri="{FF2B5EF4-FFF2-40B4-BE49-F238E27FC236}">
                <a16:creationId xmlns:a16="http://schemas.microsoft.com/office/drawing/2014/main" id="{32E53983-FFE3-7A5A-63BA-C0CC9DDC7BC0}"/>
              </a:ext>
            </a:extLst>
          </p:cNvPr>
          <p:cNvSpPr>
            <a:spLocks noGrp="1"/>
          </p:cNvSpPr>
          <p:nvPr>
            <p:ph type="body" idx="1"/>
          </p:nvPr>
        </p:nvSpPr>
        <p:spPr/>
        <p:txBody>
          <a:bodyPr/>
          <a:lstStyle/>
          <a:p>
            <a:pPr marL="114300" indent="0">
              <a:buNone/>
            </a:pPr>
            <a:r>
              <a:rPr lang="en-US" dirty="0"/>
              <a:t>Input: '; DROP TABLE Users; --</a:t>
            </a:r>
          </a:p>
          <a:p>
            <a:pPr marL="114300" indent="0">
              <a:buNone/>
            </a:pPr>
            <a:r>
              <a:rPr lang="en-US" dirty="0"/>
              <a:t>Expected: No database modification</a:t>
            </a:r>
          </a:p>
          <a:p>
            <a:pPr marL="114300" indent="0">
              <a:buNone/>
            </a:pPr>
            <a:r>
              <a:rPr lang="en-US" dirty="0"/>
              <a:t>Result: PASS</a:t>
            </a:r>
          </a:p>
          <a:p>
            <a:pPr marL="114300" indent="0">
              <a:buNone/>
            </a:pPr>
            <a:r>
              <a:rPr lang="en-US" dirty="0"/>
              <a:t>Explanation: Parameterized queries treat input strictly as data, not executable code.</a:t>
            </a:r>
          </a:p>
        </p:txBody>
      </p:sp>
    </p:spTree>
    <p:extLst>
      <p:ext uri="{BB962C8B-B14F-4D97-AF65-F5344CB8AC3E}">
        <p14:creationId xmlns:p14="http://schemas.microsoft.com/office/powerpoint/2010/main" val="3115744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E188-C4ED-9569-C227-11A1708A0933}"/>
              </a:ext>
            </a:extLst>
          </p:cNvPr>
          <p:cNvSpPr>
            <a:spLocks noGrp="1"/>
          </p:cNvSpPr>
          <p:nvPr>
            <p:ph type="title"/>
          </p:nvPr>
        </p:nvSpPr>
        <p:spPr/>
        <p:txBody>
          <a:bodyPr/>
          <a:lstStyle/>
          <a:p>
            <a:r>
              <a:rPr lang="en-US" dirty="0"/>
              <a:t>Does the system handle extremely long input safely?</a:t>
            </a:r>
          </a:p>
        </p:txBody>
      </p:sp>
      <p:sp>
        <p:nvSpPr>
          <p:cNvPr id="3" name="Text Placeholder 2">
            <a:extLst>
              <a:ext uri="{FF2B5EF4-FFF2-40B4-BE49-F238E27FC236}">
                <a16:creationId xmlns:a16="http://schemas.microsoft.com/office/drawing/2014/main" id="{D7F84799-94B3-C8B4-0D7A-9475445127F1}"/>
              </a:ext>
            </a:extLst>
          </p:cNvPr>
          <p:cNvSpPr>
            <a:spLocks noGrp="1"/>
          </p:cNvSpPr>
          <p:nvPr>
            <p:ph type="body" idx="1"/>
          </p:nvPr>
        </p:nvSpPr>
        <p:spPr/>
        <p:txBody>
          <a:bodyPr/>
          <a:lstStyle/>
          <a:p>
            <a:pPr marL="114300" indent="0">
              <a:buNone/>
            </a:pPr>
            <a:r>
              <a:rPr lang="en-US" dirty="0"/>
              <a:t>Input: 1000-character string</a:t>
            </a:r>
          </a:p>
          <a:p>
            <a:pPr marL="114300" indent="0">
              <a:buNone/>
            </a:pPr>
            <a:r>
              <a:rPr lang="en-US" dirty="0"/>
              <a:t>Expected: Graceful rejection</a:t>
            </a:r>
          </a:p>
          <a:p>
            <a:pPr marL="114300" indent="0">
              <a:buNone/>
            </a:pPr>
            <a:r>
              <a:rPr lang="en-US" dirty="0"/>
              <a:t>Result: PASS</a:t>
            </a:r>
          </a:p>
          <a:p>
            <a:pPr marL="114300" indent="0">
              <a:buNone/>
            </a:pPr>
            <a:r>
              <a:rPr lang="en-US" dirty="0"/>
              <a:t>Explanation: Input validation prevents overflow and denial-of-service conditions.</a:t>
            </a:r>
          </a:p>
        </p:txBody>
      </p:sp>
    </p:spTree>
    <p:extLst>
      <p:ext uri="{BB962C8B-B14F-4D97-AF65-F5344CB8AC3E}">
        <p14:creationId xmlns:p14="http://schemas.microsoft.com/office/powerpoint/2010/main" val="1543608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FCEEE-C096-AE93-8D1D-A6F7ED0B2DA4}"/>
              </a:ext>
            </a:extLst>
          </p:cNvPr>
          <p:cNvSpPr>
            <a:spLocks noGrp="1"/>
          </p:cNvSpPr>
          <p:nvPr>
            <p:ph type="title"/>
          </p:nvPr>
        </p:nvSpPr>
        <p:spPr/>
        <p:txBody>
          <a:bodyPr/>
          <a:lstStyle/>
          <a:p>
            <a:r>
              <a:rPr lang="en-US" dirty="0"/>
              <a:t>Does null input throw a controlled exception?</a:t>
            </a:r>
          </a:p>
        </p:txBody>
      </p:sp>
      <p:sp>
        <p:nvSpPr>
          <p:cNvPr id="3" name="Text Placeholder 2">
            <a:extLst>
              <a:ext uri="{FF2B5EF4-FFF2-40B4-BE49-F238E27FC236}">
                <a16:creationId xmlns:a16="http://schemas.microsoft.com/office/drawing/2014/main" id="{BDD2D800-277B-CAFC-DD0A-81E1DCB8D736}"/>
              </a:ext>
            </a:extLst>
          </p:cNvPr>
          <p:cNvSpPr>
            <a:spLocks noGrp="1"/>
          </p:cNvSpPr>
          <p:nvPr>
            <p:ph type="body" idx="1"/>
          </p:nvPr>
        </p:nvSpPr>
        <p:spPr/>
        <p:txBody>
          <a:bodyPr/>
          <a:lstStyle/>
          <a:p>
            <a:pPr marL="114300" indent="0">
              <a:buNone/>
            </a:pPr>
            <a:r>
              <a:rPr lang="en-US" dirty="0">
                <a:solidFill>
                  <a:srgbClr val="FFFFFF"/>
                </a:solidFill>
                <a:latin typeface="Century Gothic" panose="020B0502020202020204" pitchFamily="34" charset="0"/>
              </a:rPr>
              <a:t>Input: </a:t>
            </a:r>
            <a:r>
              <a:rPr lang="en-US" dirty="0" err="1">
                <a:solidFill>
                  <a:srgbClr val="FFFFFF"/>
                </a:solidFill>
                <a:latin typeface="Century Gothic" panose="020B0502020202020204" pitchFamily="34" charset="0"/>
              </a:rPr>
              <a:t>nullptr</a:t>
            </a:r>
            <a:br>
              <a:rPr lang="en-US" dirty="0">
                <a:solidFill>
                  <a:srgbClr val="FFFFFF"/>
                </a:solidFill>
                <a:latin typeface="Century Gothic" panose="020B0502020202020204" pitchFamily="34" charset="0"/>
              </a:rPr>
            </a:br>
            <a:r>
              <a:rPr lang="en-US" dirty="0">
                <a:solidFill>
                  <a:srgbClr val="FFFFFF"/>
                </a:solidFill>
                <a:latin typeface="Century Gothic" panose="020B0502020202020204" pitchFamily="34" charset="0"/>
              </a:rPr>
              <a:t>Expected: std::</a:t>
            </a:r>
            <a:r>
              <a:rPr lang="en-US" dirty="0" err="1">
                <a:solidFill>
                  <a:srgbClr val="FFFFFF"/>
                </a:solidFill>
                <a:latin typeface="Century Gothic" panose="020B0502020202020204" pitchFamily="34" charset="0"/>
              </a:rPr>
              <a:t>invalid_argument</a:t>
            </a:r>
            <a:br>
              <a:rPr lang="en-US" dirty="0">
                <a:solidFill>
                  <a:srgbClr val="FFFFFF"/>
                </a:solidFill>
                <a:latin typeface="Century Gothic" panose="020B0502020202020204" pitchFamily="34" charset="0"/>
              </a:rPr>
            </a:br>
            <a:r>
              <a:rPr lang="en-US" dirty="0">
                <a:solidFill>
                  <a:srgbClr val="FFFFFF"/>
                </a:solidFill>
                <a:latin typeface="Century Gothic" panose="020B0502020202020204" pitchFamily="34" charset="0"/>
              </a:rPr>
              <a:t>Result: PASS</a:t>
            </a:r>
          </a:p>
          <a:p>
            <a:pPr marL="114300" indent="0">
              <a:buNone/>
            </a:pPr>
            <a:r>
              <a:rPr lang="en-US" b="1" dirty="0">
                <a:solidFill>
                  <a:srgbClr val="FFFFFF"/>
                </a:solidFill>
                <a:latin typeface="Century Gothic" panose="020B0502020202020204" pitchFamily="34" charset="0"/>
              </a:rPr>
              <a:t>Explanation:</a:t>
            </a:r>
            <a:br>
              <a:rPr lang="en-US" dirty="0">
                <a:solidFill>
                  <a:srgbClr val="FFFFFF"/>
                </a:solidFill>
                <a:latin typeface="Century Gothic" panose="020B0502020202020204" pitchFamily="34" charset="0"/>
              </a:rPr>
            </a:br>
            <a:r>
              <a:rPr lang="en-US" dirty="0">
                <a:solidFill>
                  <a:srgbClr val="FFFFFF"/>
                </a:solidFill>
                <a:latin typeface="Century Gothic" panose="020B0502020202020204" pitchFamily="34" charset="0"/>
              </a:rPr>
              <a:t>Fail-secure behavior enforced.</a:t>
            </a:r>
          </a:p>
          <a:p>
            <a:endParaRPr lang="en-US" dirty="0"/>
          </a:p>
        </p:txBody>
      </p:sp>
    </p:spTree>
    <p:extLst>
      <p:ext uri="{BB962C8B-B14F-4D97-AF65-F5344CB8AC3E}">
        <p14:creationId xmlns:p14="http://schemas.microsoft.com/office/powerpoint/2010/main" val="2433794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55702696-3E80-C9AE-8CFE-62FFCDA48078}"/>
              </a:ext>
            </a:extLst>
          </p:cNvPr>
          <p:cNvSpPr txBox="1"/>
          <p:nvPr/>
        </p:nvSpPr>
        <p:spPr>
          <a:xfrm>
            <a:off x="754380" y="2366011"/>
            <a:ext cx="7660957" cy="2893100"/>
          </a:xfrm>
          <a:prstGeom prst="rect">
            <a:avLst/>
          </a:prstGeom>
          <a:noFill/>
        </p:spPr>
        <p:txBody>
          <a:bodyPr wrap="square">
            <a:spAutoFit/>
          </a:bodyPr>
          <a:lstStyle/>
          <a:p>
            <a:pPr algn="l"/>
            <a:r>
              <a:rPr lang="en-US" b="0" i="0" dirty="0">
                <a:solidFill>
                  <a:srgbClr val="FFFFFF"/>
                </a:solidFill>
                <a:effectLst/>
                <a:latin typeface="Century Gothic" panose="020B0502020202020204" pitchFamily="34" charset="0"/>
              </a:rPr>
              <a:t>Explain pipeline:</a:t>
            </a:r>
          </a:p>
          <a:p>
            <a:pPr algn="l"/>
            <a:endParaRPr lang="en-US" b="0" i="0" dirty="0">
              <a:solidFill>
                <a:srgbClr val="FFFFFF"/>
              </a:solidFill>
              <a:effectLst/>
              <a:latin typeface="Century Gothic" panose="020B0502020202020204" pitchFamily="34" charset="0"/>
            </a:endParaRPr>
          </a:p>
          <a:p>
            <a:pPr algn="l"/>
            <a:r>
              <a:rPr lang="en-US" b="0" i="0" dirty="0">
                <a:solidFill>
                  <a:srgbClr val="FFFFFF"/>
                </a:solidFill>
                <a:effectLst/>
                <a:latin typeface="Century Gothic" panose="020B0502020202020204" pitchFamily="34" charset="0"/>
              </a:rPr>
              <a:t>Code → Compile → Static Analysis → Unit Tests → Build → Deploy → Monitor</a:t>
            </a:r>
          </a:p>
          <a:p>
            <a:pPr algn="l"/>
            <a:endParaRPr lang="en-US" b="0" i="0" dirty="0">
              <a:solidFill>
                <a:srgbClr val="FFFFFF"/>
              </a:solidFill>
              <a:effectLst/>
              <a:latin typeface="Century Gothic" panose="020B0502020202020204" pitchFamily="34" charset="0"/>
            </a:endParaRPr>
          </a:p>
          <a:p>
            <a:pPr algn="l"/>
            <a:r>
              <a:rPr lang="en-US" b="0" i="0" dirty="0">
                <a:solidFill>
                  <a:srgbClr val="FFFFFF"/>
                </a:solidFill>
                <a:effectLst/>
                <a:latin typeface="Century Gothic" panose="020B0502020202020204" pitchFamily="34" charset="0"/>
              </a:rPr>
              <a:t>Security Tools Placement:</a:t>
            </a:r>
          </a:p>
          <a:p>
            <a:pPr marL="285750" indent="-285750" algn="l">
              <a:buClr>
                <a:schemeClr val="bg1"/>
              </a:buClr>
              <a:buFont typeface="Arial" panose="020B0604020202020204" pitchFamily="34" charset="0"/>
              <a:buChar char="•"/>
            </a:pPr>
            <a:r>
              <a:rPr lang="en-US" b="0" i="0" dirty="0">
                <a:solidFill>
                  <a:srgbClr val="FFFFFF"/>
                </a:solidFill>
                <a:effectLst/>
                <a:latin typeface="Century Gothic" panose="020B0502020202020204" pitchFamily="34" charset="0"/>
              </a:rPr>
              <a:t>Pre-commit hooks</a:t>
            </a:r>
          </a:p>
          <a:p>
            <a:pPr marL="285750" indent="-285750" algn="l">
              <a:buClr>
                <a:schemeClr val="bg1"/>
              </a:buClr>
              <a:buFont typeface="Arial" panose="020B0604020202020204" pitchFamily="34" charset="0"/>
              <a:buChar char="•"/>
            </a:pPr>
            <a:r>
              <a:rPr lang="en-US" b="0" i="0" dirty="0">
                <a:solidFill>
                  <a:srgbClr val="FFFFFF"/>
                </a:solidFill>
                <a:effectLst/>
                <a:latin typeface="Century Gothic" panose="020B0502020202020204" pitchFamily="34" charset="0"/>
              </a:rPr>
              <a:t>Static analysis during compile</a:t>
            </a:r>
          </a:p>
          <a:p>
            <a:pPr marL="285750" indent="-285750" algn="l">
              <a:buClr>
                <a:schemeClr val="bg1"/>
              </a:buClr>
              <a:buFont typeface="Arial" panose="020B0604020202020204" pitchFamily="34" charset="0"/>
              <a:buChar char="•"/>
            </a:pPr>
            <a:r>
              <a:rPr lang="en-US" b="0" i="0" dirty="0">
                <a:solidFill>
                  <a:srgbClr val="FFFFFF"/>
                </a:solidFill>
                <a:effectLst/>
                <a:latin typeface="Century Gothic" panose="020B0502020202020204" pitchFamily="34" charset="0"/>
              </a:rPr>
              <a:t>Unit testing during CI</a:t>
            </a:r>
          </a:p>
          <a:p>
            <a:pPr marL="285750" indent="-285750" algn="l">
              <a:buClr>
                <a:schemeClr val="bg1"/>
              </a:buClr>
              <a:buFont typeface="Arial" panose="020B0604020202020204" pitchFamily="34" charset="0"/>
              <a:buChar char="•"/>
            </a:pPr>
            <a:r>
              <a:rPr lang="en-US" b="0" i="0" dirty="0">
                <a:solidFill>
                  <a:srgbClr val="FFFFFF"/>
                </a:solidFill>
                <a:effectLst/>
                <a:latin typeface="Century Gothic" panose="020B0502020202020204" pitchFamily="34" charset="0"/>
              </a:rPr>
              <a:t>Security scanning before deployment</a:t>
            </a:r>
          </a:p>
          <a:p>
            <a:pPr marL="285750" indent="-285750" algn="l">
              <a:buClr>
                <a:schemeClr val="bg1"/>
              </a:buClr>
              <a:buFont typeface="Arial" panose="020B0604020202020204" pitchFamily="34" charset="0"/>
              <a:buChar char="•"/>
            </a:pPr>
            <a:r>
              <a:rPr lang="en-US" b="0" i="0" dirty="0">
                <a:solidFill>
                  <a:srgbClr val="FFFFFF"/>
                </a:solidFill>
                <a:effectLst/>
                <a:latin typeface="Century Gothic" panose="020B0502020202020204" pitchFamily="34" charset="0"/>
              </a:rPr>
              <a:t>Monitoring after deployment</a:t>
            </a:r>
          </a:p>
          <a:p>
            <a:pPr algn="l"/>
            <a:endParaRPr lang="en-US" b="0" i="0" dirty="0">
              <a:solidFill>
                <a:srgbClr val="FFFFFF"/>
              </a:solidFill>
              <a:effectLst/>
              <a:latin typeface="Century Gothic" panose="020B0502020202020204" pitchFamily="34" charset="0"/>
            </a:endParaRPr>
          </a:p>
          <a:p>
            <a:pPr algn="l"/>
            <a:r>
              <a:rPr lang="en-US" b="0" i="0" dirty="0">
                <a:solidFill>
                  <a:srgbClr val="FFFFFF"/>
                </a:solidFill>
                <a:effectLst/>
                <a:latin typeface="Century Gothic" panose="020B0502020202020204" pitchFamily="34" charset="0"/>
              </a:rPr>
              <a:t>State:</a:t>
            </a:r>
            <a:br>
              <a:rPr lang="en-US" b="0" i="0" dirty="0">
                <a:solidFill>
                  <a:srgbClr val="FFFFFF"/>
                </a:solidFill>
                <a:effectLst/>
                <a:latin typeface="Century Gothic" panose="020B0502020202020204" pitchFamily="34" charset="0"/>
              </a:rPr>
            </a:br>
            <a:r>
              <a:rPr lang="en-US" b="0" i="0" dirty="0">
                <a:solidFill>
                  <a:srgbClr val="FFFFFF"/>
                </a:solidFill>
                <a:effectLst/>
                <a:latin typeface="Century Gothic" panose="020B0502020202020204" pitchFamily="34" charset="0"/>
              </a:rPr>
              <a:t>Security is continuous, not one-time.</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2000" dirty="0"/>
              <a:t>If We Act Now:</a:t>
            </a:r>
          </a:p>
          <a:p>
            <a:pPr marL="342900">
              <a:spcBef>
                <a:spcPts val="0"/>
              </a:spcBef>
              <a:buSzPts val="2000"/>
            </a:pPr>
            <a:r>
              <a:rPr lang="en-US" sz="2000" dirty="0"/>
              <a:t>Reduced breach likelihood</a:t>
            </a:r>
          </a:p>
          <a:p>
            <a:pPr marL="342900">
              <a:spcBef>
                <a:spcPts val="0"/>
              </a:spcBef>
              <a:buSzPts val="2000"/>
            </a:pPr>
            <a:r>
              <a:rPr lang="en-US" sz="2000" dirty="0"/>
              <a:t>Compliance alignment</a:t>
            </a:r>
          </a:p>
          <a:p>
            <a:pPr marL="342900">
              <a:spcBef>
                <a:spcPts val="0"/>
              </a:spcBef>
              <a:buSzPts val="2000"/>
            </a:pPr>
            <a:r>
              <a:rPr lang="en-US" sz="2000" dirty="0"/>
              <a:t>Lower incident cost</a:t>
            </a:r>
          </a:p>
          <a:p>
            <a:pPr marL="0" indent="0">
              <a:spcBef>
                <a:spcPts val="0"/>
              </a:spcBef>
              <a:buSzPts val="2000"/>
              <a:buNone/>
            </a:pPr>
            <a:r>
              <a:rPr lang="en-US" sz="2000" dirty="0"/>
              <a:t>If We Wait:</a:t>
            </a:r>
          </a:p>
          <a:p>
            <a:pPr marL="342900">
              <a:spcBef>
                <a:spcPts val="0"/>
              </a:spcBef>
              <a:buSzPts val="2000"/>
            </a:pPr>
            <a:r>
              <a:rPr lang="en-US" sz="2000" dirty="0"/>
              <a:t>Increased technical debt</a:t>
            </a:r>
          </a:p>
          <a:p>
            <a:pPr marL="342900">
              <a:spcBef>
                <a:spcPts val="0"/>
              </a:spcBef>
              <a:buSzPts val="2000"/>
            </a:pPr>
            <a:r>
              <a:rPr lang="en-US" sz="2000" dirty="0"/>
              <a:t>Higher breach impact</a:t>
            </a:r>
          </a:p>
          <a:p>
            <a:pPr marL="342900">
              <a:spcBef>
                <a:spcPts val="0"/>
              </a:spcBef>
              <a:buSzPts val="2000"/>
            </a:pPr>
            <a:r>
              <a:rPr lang="en-US" sz="2000" dirty="0"/>
              <a:t>Legal and reputational risk</a:t>
            </a: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914400" lvl="2" indent="0" algn="l" rtl="0">
              <a:lnSpc>
                <a:spcPct val="90000"/>
              </a:lnSpc>
              <a:spcBef>
                <a:spcPts val="0"/>
              </a:spcBef>
              <a:spcAft>
                <a:spcPts val="0"/>
              </a:spcAft>
              <a:buClr>
                <a:schemeClr val="lt1"/>
              </a:buClr>
              <a:buSzPts val="1800"/>
              <a:buNone/>
            </a:pPr>
            <a:r>
              <a:rPr lang="en-US" dirty="0"/>
              <a:t>Current Gaps:</a:t>
            </a:r>
          </a:p>
          <a:p>
            <a:pPr marL="1200150" lvl="2" indent="-285750">
              <a:spcBef>
                <a:spcPts val="0"/>
              </a:spcBef>
            </a:pPr>
            <a:r>
              <a:rPr lang="en-US" dirty="0"/>
              <a:t>No automated dependency scanning</a:t>
            </a:r>
          </a:p>
          <a:p>
            <a:pPr marL="1200150" lvl="2" indent="-285750">
              <a:spcBef>
                <a:spcPts val="0"/>
              </a:spcBef>
            </a:pPr>
            <a:r>
              <a:rPr lang="en-US" dirty="0"/>
              <a:t>No runtime application monitoring</a:t>
            </a:r>
          </a:p>
          <a:p>
            <a:pPr marL="1200150" lvl="2" indent="-285750">
              <a:spcBef>
                <a:spcPts val="0"/>
              </a:spcBef>
            </a:pPr>
            <a:r>
              <a:rPr lang="en-US" dirty="0"/>
              <a:t>Limited secrets rotation</a:t>
            </a:r>
          </a:p>
          <a:p>
            <a:pPr marL="914400" lvl="2" indent="0">
              <a:spcBef>
                <a:spcPts val="0"/>
              </a:spcBef>
              <a:buNone/>
            </a:pPr>
            <a:r>
              <a:rPr lang="en-US" dirty="0"/>
              <a:t>Recommendations:</a:t>
            </a:r>
          </a:p>
          <a:p>
            <a:pPr marL="1200150" lvl="2" indent="-285750">
              <a:spcBef>
                <a:spcPts val="0"/>
              </a:spcBef>
            </a:pPr>
            <a:r>
              <a:rPr lang="en-US" dirty="0"/>
              <a:t>Implement SAST and DAST</a:t>
            </a:r>
          </a:p>
          <a:p>
            <a:pPr marL="1200150" lvl="2" indent="-285750">
              <a:spcBef>
                <a:spcPts val="0"/>
              </a:spcBef>
            </a:pPr>
            <a:r>
              <a:rPr lang="en-US" dirty="0"/>
              <a:t>Add automated secret scanning</a:t>
            </a:r>
          </a:p>
          <a:p>
            <a:pPr marL="1200150" lvl="2" indent="-285750">
              <a:spcBef>
                <a:spcPts val="0"/>
              </a:spcBef>
            </a:pPr>
            <a:r>
              <a:rPr lang="en-US" dirty="0"/>
              <a:t>Continuous compliance monitoring</a:t>
            </a:r>
          </a:p>
          <a:p>
            <a:pPr marL="1200150" lvl="2" indent="-285750">
              <a:spcBef>
                <a:spcPts val="0"/>
              </a:spcBef>
            </a:pPr>
            <a:r>
              <a:rPr lang="en-US" dirty="0"/>
              <a:t>Quarterly policy review</a:t>
            </a:r>
            <a:endParaRPr sz="1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200"/>
              <a:buNone/>
            </a:pPr>
            <a:r>
              <a:rPr lang="en-US" dirty="0"/>
              <a:t>Security is:</a:t>
            </a:r>
          </a:p>
          <a:p>
            <a:pPr marL="342900">
              <a:spcBef>
                <a:spcPts val="0"/>
              </a:spcBef>
              <a:buSzPts val="2200"/>
            </a:pPr>
            <a:r>
              <a:rPr lang="en-US" dirty="0"/>
              <a:t>Standardized</a:t>
            </a:r>
          </a:p>
          <a:p>
            <a:pPr marL="342900">
              <a:spcBef>
                <a:spcPts val="0"/>
              </a:spcBef>
              <a:buSzPts val="2200"/>
            </a:pPr>
            <a:r>
              <a:rPr lang="en-US" dirty="0"/>
              <a:t>Automated</a:t>
            </a:r>
          </a:p>
          <a:p>
            <a:pPr marL="342900">
              <a:spcBef>
                <a:spcPts val="0"/>
              </a:spcBef>
              <a:buSzPts val="2200"/>
            </a:pPr>
            <a:r>
              <a:rPr lang="en-US" dirty="0"/>
              <a:t>Continuously enforced</a:t>
            </a:r>
          </a:p>
          <a:p>
            <a:pPr marL="0" indent="0">
              <a:spcBef>
                <a:spcPts val="0"/>
              </a:spcBef>
              <a:buSzPts val="2200"/>
              <a:buNone/>
            </a:pPr>
            <a:r>
              <a:rPr lang="en-US" dirty="0"/>
              <a:t>Green Pace security policy:</a:t>
            </a:r>
          </a:p>
          <a:p>
            <a:pPr marL="342900">
              <a:spcBef>
                <a:spcPts val="0"/>
              </a:spcBef>
              <a:buSzPts val="2200"/>
            </a:pPr>
            <a:r>
              <a:rPr lang="en-US" dirty="0"/>
              <a:t>Reduces attack surface</a:t>
            </a:r>
          </a:p>
          <a:p>
            <a:pPr marL="342900">
              <a:spcBef>
                <a:spcPts val="0"/>
              </a:spcBef>
              <a:buSzPts val="2200"/>
            </a:pPr>
            <a:r>
              <a:rPr lang="en-US" dirty="0"/>
              <a:t>Assumes vulnerability</a:t>
            </a:r>
          </a:p>
          <a:p>
            <a:pPr marL="342900">
              <a:spcBef>
                <a:spcPts val="0"/>
              </a:spcBef>
              <a:buSzPts val="2200"/>
            </a:pPr>
            <a:r>
              <a:rPr lang="en-US" dirty="0"/>
              <a:t>Applies external testing</a:t>
            </a:r>
          </a:p>
          <a:p>
            <a:pPr marL="342900">
              <a:spcBef>
                <a:spcPts val="0"/>
              </a:spcBef>
              <a:buSzPts val="2200"/>
            </a:pPr>
            <a:r>
              <a:rPr lang="en-US" dirty="0"/>
              <a:t>Enforces defense-in-depth</a:t>
            </a: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REFERENCES</a:t>
            </a:r>
            <a:endParaRPr dirty="0"/>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200"/>
              <a:buNone/>
            </a:pPr>
            <a:r>
              <a:rPr lang="en-US" dirty="0"/>
              <a:t>OWASP. (2023). OWASP Top 10. </a:t>
            </a:r>
            <a:r>
              <a:rPr lang="en-US" dirty="0">
                <a:hlinkClick r:id="rId4"/>
              </a:rPr>
              <a:t>https://owasp.org</a:t>
            </a:r>
            <a:endParaRPr lang="en-US" dirty="0"/>
          </a:p>
          <a:p>
            <a:pPr marL="0" lvl="0" indent="0" algn="l" rtl="0">
              <a:lnSpc>
                <a:spcPct val="90000"/>
              </a:lnSpc>
              <a:spcBef>
                <a:spcPts val="0"/>
              </a:spcBef>
              <a:spcAft>
                <a:spcPts val="0"/>
              </a:spcAft>
              <a:buClr>
                <a:schemeClr val="lt1"/>
              </a:buClr>
              <a:buSzPts val="2200"/>
              <a:buNone/>
            </a:pPr>
            <a:r>
              <a:rPr lang="en-US" dirty="0"/>
              <a:t>Microsoft. (2023). Secure Coding Guidelines. </a:t>
            </a:r>
            <a:r>
              <a:rPr lang="en-US" dirty="0">
                <a:hlinkClick r:id="rId5"/>
              </a:rPr>
              <a:t>https://learn.microsoft.com</a:t>
            </a:r>
            <a:endParaRPr lang="en-US" dirty="0"/>
          </a:p>
          <a:p>
            <a:pPr marL="0" lvl="0" indent="0" algn="l" rtl="0">
              <a:lnSpc>
                <a:spcPct val="90000"/>
              </a:lnSpc>
              <a:spcBef>
                <a:spcPts val="0"/>
              </a:spcBef>
              <a:spcAft>
                <a:spcPts val="0"/>
              </a:spcAft>
              <a:buClr>
                <a:schemeClr val="lt1"/>
              </a:buClr>
              <a:buSzPts val="2200"/>
              <a:buNone/>
            </a:pPr>
            <a:r>
              <a:rPr lang="en-US" dirty="0"/>
              <a:t>NIST. (2022). Cybersecurity Framework. </a:t>
            </a:r>
            <a:r>
              <a:rPr lang="en-US" dirty="0">
                <a:hlinkClick r:id="rId6"/>
              </a:rPr>
              <a:t>https://nist.gov</a:t>
            </a:r>
            <a:endParaRPr lang="en-US" dirty="0"/>
          </a:p>
          <a:p>
            <a:pPr marL="0" lvl="0" indent="0" algn="l" rtl="0">
              <a:lnSpc>
                <a:spcPct val="90000"/>
              </a:lnSpc>
              <a:spcBef>
                <a:spcPts val="0"/>
              </a:spcBef>
              <a:spcAft>
                <a:spcPts val="0"/>
              </a:spcAft>
              <a:buClr>
                <a:schemeClr val="lt1"/>
              </a:buClr>
              <a:buSzPts val="2200"/>
              <a:buNone/>
            </a:pPr>
            <a:endParaRPr lang="en-US" dirty="0"/>
          </a:p>
          <a:p>
            <a:pPr marL="0" lvl="0" indent="0" algn="l" rtl="0">
              <a:lnSpc>
                <a:spcPct val="90000"/>
              </a:lnSpc>
              <a:spcBef>
                <a:spcPts val="0"/>
              </a:spcBef>
              <a:spcAft>
                <a:spcPts val="0"/>
              </a:spcAft>
              <a:buClr>
                <a:schemeClr val="lt1"/>
              </a:buClr>
              <a:buSzPts val="2200"/>
              <a:buNone/>
            </a:pPr>
            <a:endParaRPr dirty="0"/>
          </a:p>
        </p:txBody>
      </p:sp>
      <p:pic>
        <p:nvPicPr>
          <p:cNvPr id="239" name="Google Shape;239;p14"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TotalTime>
  <Words>658</Words>
  <Application>Microsoft Office PowerPoint</Application>
  <PresentationFormat>Widescreen</PresentationFormat>
  <Paragraphs>147</Paragraphs>
  <Slides>19</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Vulnerability Tested: SQL Injection (CS-01)</vt:lpstr>
      <vt:lpstr>Does valid input return authorized results?</vt:lpstr>
      <vt:lpstr>Does the system reject classic SQL injection payload?</vt:lpstr>
      <vt:lpstr>Does the system block stacked query injection?</vt:lpstr>
      <vt:lpstr>Does the system handle extremely long input safely?</vt:lpstr>
      <vt:lpstr>Does null input throw a controlled exception?</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joseph toj</cp:lastModifiedBy>
  <cp:revision>5</cp:revision>
  <dcterms:created xsi:type="dcterms:W3CDTF">2020-08-19T17:59:24Z</dcterms:created>
  <dcterms:modified xsi:type="dcterms:W3CDTF">2026-02-23T07:32:08Z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